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sldIdLst>
    <p:sldId id="2767" r:id="rId5"/>
    <p:sldId id="257" r:id="rId6"/>
    <p:sldId id="259" r:id="rId7"/>
    <p:sldId id="260" r:id="rId8"/>
    <p:sldId id="261" r:id="rId9"/>
    <p:sldId id="263" r:id="rId10"/>
    <p:sldId id="269" r:id="rId11"/>
    <p:sldId id="264" r:id="rId12"/>
    <p:sldId id="2768" r:id="rId13"/>
    <p:sldId id="2769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CF319-7968-4479-A36E-6A26E7FB3D13}" v="109" dt="2026-05-17T06:31:19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95"/>
  </p:normalViewPr>
  <p:slideViewPr>
    <p:cSldViewPr snapToGrid="0">
      <p:cViewPr varScale="1">
        <p:scale>
          <a:sx n="52" d="100"/>
          <a:sy n="52" d="100"/>
        </p:scale>
        <p:origin x="84" y="1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quoc Tran" userId="414edae3dae752dc" providerId="LiveId" clId="{013C0437-8FD8-4521-8BFD-47587B239294}"/>
    <pc:docChg chg="modSld">
      <pc:chgData name="Iquoc Tran" userId="414edae3dae752dc" providerId="LiveId" clId="{013C0437-8FD8-4521-8BFD-47587B239294}" dt="2026-05-17T06:31:19.428" v="108" actId="1076"/>
      <pc:docMkLst>
        <pc:docMk/>
      </pc:docMkLst>
      <pc:sldChg chg="addSp delSp modSp">
        <pc:chgData name="Iquoc Tran" userId="414edae3dae752dc" providerId="LiveId" clId="{013C0437-8FD8-4521-8BFD-47587B239294}" dt="2026-05-17T06:31:19.428" v="108" actId="1076"/>
        <pc:sldMkLst>
          <pc:docMk/>
          <pc:sldMk cId="4182614578" sldId="2767"/>
        </pc:sldMkLst>
        <pc:picChg chg="add del">
          <ac:chgData name="Iquoc Tran" userId="414edae3dae752dc" providerId="LiveId" clId="{013C0437-8FD8-4521-8BFD-47587B239294}" dt="2026-05-17T06:24:57.351" v="1" actId="478"/>
          <ac:picMkLst>
            <pc:docMk/>
            <pc:sldMk cId="4182614578" sldId="2767"/>
            <ac:picMk id="1026" creationId="{06543DC3-00CF-9316-DF98-2F9A579A7B2C}"/>
          </ac:picMkLst>
        </pc:picChg>
        <pc:picChg chg="add mod">
          <ac:chgData name="Iquoc Tran" userId="414edae3dae752dc" providerId="LiveId" clId="{013C0437-8FD8-4521-8BFD-47587B239294}" dt="2026-05-17T06:28:58.335" v="22" actId="1076"/>
          <ac:picMkLst>
            <pc:docMk/>
            <pc:sldMk cId="4182614578" sldId="2767"/>
            <ac:picMk id="1028" creationId="{72625AC4-479C-597D-FF5C-36FB1193053B}"/>
          </ac:picMkLst>
        </pc:picChg>
        <pc:picChg chg="add del">
          <ac:chgData name="Iquoc Tran" userId="414edae3dae752dc" providerId="LiveId" clId="{013C0437-8FD8-4521-8BFD-47587B239294}" dt="2026-05-17T06:27:13.961" v="10" actId="478"/>
          <ac:picMkLst>
            <pc:docMk/>
            <pc:sldMk cId="4182614578" sldId="2767"/>
            <ac:picMk id="1030" creationId="{6887175D-7EAD-4D31-B1AF-77DFE2C465FD}"/>
          </ac:picMkLst>
        </pc:picChg>
        <pc:picChg chg="add del">
          <ac:chgData name="Iquoc Tran" userId="414edae3dae752dc" providerId="LiveId" clId="{013C0437-8FD8-4521-8BFD-47587B239294}" dt="2026-05-17T06:28:16.421" v="12" actId="478"/>
          <ac:picMkLst>
            <pc:docMk/>
            <pc:sldMk cId="4182614578" sldId="2767"/>
            <ac:picMk id="1032" creationId="{A58BE4F4-163E-0F8F-BBAE-16CDE771E2FA}"/>
          </ac:picMkLst>
        </pc:picChg>
        <pc:picChg chg="add del">
          <ac:chgData name="Iquoc Tran" userId="414edae3dae752dc" providerId="LiveId" clId="{013C0437-8FD8-4521-8BFD-47587B239294}" dt="2026-05-17T06:28:24.619" v="14" actId="478"/>
          <ac:picMkLst>
            <pc:docMk/>
            <pc:sldMk cId="4182614578" sldId="2767"/>
            <ac:picMk id="1034" creationId="{C8D59C20-73B8-A6DF-0A09-6BC126F80463}"/>
          </ac:picMkLst>
        </pc:picChg>
        <pc:picChg chg="add del">
          <ac:chgData name="Iquoc Tran" userId="414edae3dae752dc" providerId="LiveId" clId="{013C0437-8FD8-4521-8BFD-47587B239294}" dt="2026-05-17T06:28:39.898" v="16" actId="478"/>
          <ac:picMkLst>
            <pc:docMk/>
            <pc:sldMk cId="4182614578" sldId="2767"/>
            <ac:picMk id="1036" creationId="{539E59FA-02CF-FCC9-2C20-484108BB3A99}"/>
          </ac:picMkLst>
        </pc:picChg>
        <pc:picChg chg="add mod">
          <ac:chgData name="Iquoc Tran" userId="414edae3dae752dc" providerId="LiveId" clId="{013C0437-8FD8-4521-8BFD-47587B239294}" dt="2026-05-17T06:31:19.428" v="108" actId="1076"/>
          <ac:picMkLst>
            <pc:docMk/>
            <pc:sldMk cId="4182614578" sldId="2767"/>
            <ac:picMk id="1038" creationId="{1BFC6587-9274-AB7F-F16B-E945CC80D5D2}"/>
          </ac:picMkLst>
        </pc:picChg>
        <pc:picChg chg="add del mod">
          <ac:chgData name="Iquoc Tran" userId="414edae3dae752dc" providerId="LiveId" clId="{013C0437-8FD8-4521-8BFD-47587B239294}" dt="2026-05-17T06:31:13.720" v="107" actId="478"/>
          <ac:picMkLst>
            <pc:docMk/>
            <pc:sldMk cId="4182614578" sldId="2767"/>
            <ac:picMk id="1040" creationId="{8AC2EC76-6DFA-DB1C-5E32-BAC5C7B556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quoc/Parking-Lot-Management-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quoc/Parking-Lot-Management-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2.jpe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quoc/Parking-Lot-Management-App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github.com/Iquoc/Parking-Lot-Management-App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6538040" cy="2621154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Parking lot management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8094990" cy="2142792"/>
          </a:xfrm>
        </p:spPr>
        <p:txBody>
          <a:bodyPr anchor="t">
            <a:normAutofit/>
          </a:bodyPr>
          <a:lstStyle/>
          <a:p>
            <a:r>
              <a:rPr lang="en-US" dirty="0"/>
              <a:t>Junior Java Developer Take-Home Assessment</a:t>
            </a:r>
          </a:p>
          <a:p>
            <a:r>
              <a:rPr lang="en-US" dirty="0"/>
              <a:t>Presented by Iquoc Tran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277232"/>
            <a:ext cx="2841959" cy="549433"/>
          </a:xfrm>
        </p:spPr>
        <p:txBody>
          <a:bodyPr/>
          <a:lstStyle/>
          <a:p>
            <a:pPr lvl="0"/>
            <a:fld id="{A2C196D7-201A-4A3A-B9FA-EDBCED2083FF}" type="datetime1">
              <a:rPr lang="en-US" sz="1200" noProof="0" smtClean="0"/>
              <a:t>5/17/2026</a:t>
            </a:fld>
            <a:endParaRPr lang="en-US" sz="1200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32639" y="6442943"/>
            <a:ext cx="6823566" cy="266776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  <p:pic>
        <p:nvPicPr>
          <p:cNvPr id="1028" name="Picture 4" descr="Java Logo PNG Transparent &amp; SVG Vector - Freebie Supply">
            <a:extLst>
              <a:ext uri="{FF2B5EF4-FFF2-40B4-BE49-F238E27FC236}">
                <a16:creationId xmlns:a16="http://schemas.microsoft.com/office/drawing/2014/main" id="{72625AC4-479C-597D-FF5C-36FB11930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317" y="266776"/>
            <a:ext cx="942511" cy="175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lack Simple Car Icon PNG Transparent Background, Free Download #12441 -  FreeIconsPNG">
            <a:extLst>
              <a:ext uri="{FF2B5EF4-FFF2-40B4-BE49-F238E27FC236}">
                <a16:creationId xmlns:a16="http://schemas.microsoft.com/office/drawing/2014/main" id="{1BFC6587-9274-AB7F-F16B-E945CC80D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476" y="2272301"/>
            <a:ext cx="3379549" cy="337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0300" y="1792965"/>
            <a:ext cx="10684888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Why Option 1?</a:t>
            </a:r>
          </a:p>
          <a:p>
            <a:pPr lvl="1"/>
            <a:r>
              <a:rPr lang="en-US"/>
              <a:t>To-Do List Application done in the past</a:t>
            </a:r>
          </a:p>
          <a:p>
            <a:pPr lvl="1"/>
            <a:r>
              <a:rPr lang="en-US"/>
              <a:t>Inheritance?  Encapsulation?  Injection?  Separation of Concerns?</a:t>
            </a:r>
          </a:p>
          <a:p>
            <a:r>
              <a:rPr lang="en-US"/>
              <a:t>Overall Goal</a:t>
            </a:r>
          </a:p>
          <a:p>
            <a:pPr lvl="1"/>
            <a:r>
              <a:rPr lang="en-US"/>
              <a:t>Command-line parking lot management system</a:t>
            </a:r>
          </a:p>
          <a:p>
            <a:pPr lvl="1"/>
            <a:r>
              <a:rPr lang="en-US"/>
              <a:t>Supports parking, removing, and viewing vehicle status</a:t>
            </a:r>
          </a:p>
          <a:p>
            <a:pPr lvl="1"/>
            <a:r>
              <a:rPr lang="en-US"/>
              <a:t>Handles slot size validation</a:t>
            </a:r>
          </a:p>
          <a:p>
            <a:pPr lvl="1"/>
            <a:r>
              <a:rPr lang="en-US"/>
              <a:t>Built using object-oriented design principles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18887" y="6490524"/>
            <a:ext cx="5637318" cy="336141"/>
          </a:xfrm>
        </p:spPr>
        <p:txBody>
          <a:bodyPr/>
          <a:lstStyle/>
          <a:p>
            <a:r>
              <a:rPr lang="en-US" sz="1200"/>
              <a:t>GitHub | </a:t>
            </a:r>
            <a:r>
              <a:rPr lang="en-US" sz="12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pic>
        <p:nvPicPr>
          <p:cNvPr id="2050" name="Picture 2" descr="Idea - Free electronics icons">
            <a:extLst>
              <a:ext uri="{FF2B5EF4-FFF2-40B4-BE49-F238E27FC236}">
                <a16:creationId xmlns:a16="http://schemas.microsoft.com/office/drawing/2014/main" id="{B9517A46-525D-D13F-7363-5E68F585A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427" y="1693702"/>
            <a:ext cx="4057293" cy="405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94269"/>
            <a:ext cx="6759146" cy="1449993"/>
          </a:xfrm>
        </p:spPr>
        <p:txBody>
          <a:bodyPr/>
          <a:lstStyle/>
          <a:p>
            <a:r>
              <a:rPr lang="en-US" dirty="0"/>
              <a:t>Design &amp;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01946" y="6490524"/>
            <a:ext cx="5254258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9DB025-0D15-AA0F-9F3A-158CBFF895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93370" y="1544262"/>
            <a:ext cx="3212261" cy="440762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Handling state</a:t>
            </a:r>
            <a:r>
              <a:rPr lang="en-US" b="0" dirty="0"/>
              <a:t> versus </a:t>
            </a:r>
            <a:r>
              <a:rPr lang="en-US" dirty="0"/>
              <a:t>business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Enumerator and ranking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05AA281-2A2A-5F5B-FAD9-16E79BD33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172" y="1280490"/>
            <a:ext cx="8230914" cy="46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/>
          <a:lstStyle/>
          <a:p>
            <a:r>
              <a:rPr lang="en-US" dirty="0"/>
              <a:t>Key Design Decisions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2778" y="2558045"/>
            <a:ext cx="4784253" cy="365988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dirty="0" err="1"/>
              <a:t>enums</a:t>
            </a:r>
            <a:r>
              <a:rPr lang="en-US" dirty="0"/>
              <a:t> for vehicle and slot 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service layer to separate business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constructor injection for cleaner architecture and improved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Derived vehicle status via data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Used validation rules for slot compatibility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7297" y="6490524"/>
            <a:ext cx="5068907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34377-2D80-0B47-EA16-753A56BEE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72" y="2463558"/>
            <a:ext cx="6349082" cy="317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files &amp; 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src</a:t>
            </a:r>
            <a:endParaRPr lang="en-US" sz="1800" b="1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Defines behavior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test</a:t>
            </a:r>
            <a:endParaRPr lang="en-US" sz="1800" b="1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/>
              <a:t>Validate behavior</a:t>
            </a: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1" dirty="0"/>
              <a:t>model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Store state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service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Contains business logic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1373" y="6490524"/>
            <a:ext cx="5204831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4568539-643F-5849-1BB8-9BD096E207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21848" b="6338"/>
          <a:stretch>
            <a:fillRect/>
          </a:stretch>
        </p:blipFill>
        <p:spPr>
          <a:xfrm>
            <a:off x="0" y="0"/>
            <a:ext cx="4252134" cy="6334545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19" y="185970"/>
            <a:ext cx="6135624" cy="764883"/>
          </a:xfrm>
        </p:spPr>
        <p:txBody>
          <a:bodyPr>
            <a:normAutofit/>
          </a:bodyPr>
          <a:lstStyle/>
          <a:p>
            <a:r>
              <a:rPr lang="en-US" dirty="0"/>
              <a:t>Running the 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1211" y="1184147"/>
            <a:ext cx="6586151" cy="51054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Summary of README file found on the Git Repository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Requirements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1800" dirty="0"/>
              <a:t>JAVA SE Development Kit (JDK) 17 or later installed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i="1" dirty="0" err="1"/>
              <a:t>j</a:t>
            </a:r>
            <a:r>
              <a:rPr lang="en-US" sz="1800" i="1" dirty="0" err="1"/>
              <a:t>avac</a:t>
            </a:r>
            <a:r>
              <a:rPr lang="en-US" sz="1800" dirty="0"/>
              <a:t> and </a:t>
            </a:r>
            <a:r>
              <a:rPr lang="en-US" sz="1800" i="1" dirty="0"/>
              <a:t>java</a:t>
            </a:r>
            <a:r>
              <a:rPr lang="en-US" sz="1800" dirty="0"/>
              <a:t> available on your system </a:t>
            </a:r>
            <a:r>
              <a:rPr lang="en-US" sz="1800" i="1" dirty="0"/>
              <a:t>path</a:t>
            </a:r>
          </a:p>
          <a:p>
            <a:pPr marL="0" indent="0">
              <a:buNone/>
            </a:pPr>
            <a:r>
              <a:rPr lang="en-US" sz="1800" b="1" dirty="0"/>
              <a:t>Build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i="1" dirty="0" err="1"/>
              <a:t>mkdir</a:t>
            </a:r>
            <a:r>
              <a:rPr lang="en-US" i="1" dirty="0"/>
              <a:t> out</a:t>
            </a:r>
            <a:endParaRPr lang="en-US" sz="1800" i="1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Compile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i="1" dirty="0" err="1"/>
              <a:t>javac</a:t>
            </a:r>
            <a:r>
              <a:rPr lang="en-US" i="1" dirty="0"/>
              <a:t> -d out </a:t>
            </a:r>
            <a:r>
              <a:rPr lang="en-US" i="1" dirty="0" err="1"/>
              <a:t>src</a:t>
            </a:r>
            <a:r>
              <a:rPr lang="en-US" i="1" dirty="0"/>
              <a:t>\Main.java </a:t>
            </a:r>
            <a:r>
              <a:rPr lang="en-US" i="1" dirty="0" err="1"/>
              <a:t>src</a:t>
            </a:r>
            <a:r>
              <a:rPr lang="en-US" i="1" dirty="0"/>
              <a:t>\models\*.java </a:t>
            </a:r>
            <a:r>
              <a:rPr lang="en-US" i="1" dirty="0" err="1"/>
              <a:t>src</a:t>
            </a:r>
            <a:r>
              <a:rPr lang="en-US" i="1" dirty="0"/>
              <a:t>\services\*.java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1" dirty="0"/>
              <a:t>Run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i="1" dirty="0"/>
              <a:t>java -cp out </a:t>
            </a:r>
            <a:r>
              <a:rPr lang="en-US" i="1" dirty="0" err="1"/>
              <a:t>src.Main</a:t>
            </a:r>
            <a:endParaRPr lang="en-US" i="1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Seed Data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For testing with initialized and preloaded vehicles parked, see lines 23-44 under Main.java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4941" y="6490524"/>
            <a:ext cx="5081263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A7F8451-C094-676E-789A-C95A7689D4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342" r="8249"/>
          <a:stretch>
            <a:fillRect/>
          </a:stretch>
        </p:blipFill>
        <p:spPr>
          <a:xfrm>
            <a:off x="6895070" y="0"/>
            <a:ext cx="5296930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65" y="565939"/>
            <a:ext cx="5583357" cy="3621024"/>
          </a:xfrm>
        </p:spPr>
        <p:txBody>
          <a:bodyPr anchor="t">
            <a:normAutofit/>
          </a:bodyPr>
          <a:lstStyle/>
          <a:p>
            <a:r>
              <a:rPr lang="en-US" dirty="0"/>
              <a:t>Testing &amp; Verification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C6969F-B9EA-2638-A3A4-C40D6A59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222" y="1346339"/>
            <a:ext cx="6349409" cy="1599228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ABC5C81-4B4A-4C1A-B255-174CB9D3D2AE}" type="datetime1">
              <a:rPr lang="en-US" sz="1200" smtClean="0"/>
              <a:pPr>
                <a:spcAft>
                  <a:spcPts val="600"/>
                </a:spcAft>
              </a:pPr>
              <a:t>5/17/2026</a:t>
            </a:fld>
            <a:endParaRPr lang="en-US" sz="1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A715D-0DE7-5C1E-A01B-3CC861F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03364" y="6490524"/>
            <a:ext cx="5252840" cy="336141"/>
          </a:xfrm>
        </p:spPr>
        <p:txBody>
          <a:bodyPr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GitHub | </a:t>
            </a:r>
            <a:r>
              <a:rPr lang="en-US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13EF9-146F-3524-DE48-7F98E951E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222" y="3555380"/>
            <a:ext cx="5775988" cy="17086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38DDD0-809F-4D22-0799-96FED2288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242829"/>
            <a:ext cx="5756223" cy="484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28" y="172996"/>
            <a:ext cx="7037296" cy="1594294"/>
          </a:xfrm>
        </p:spPr>
        <p:txBody>
          <a:bodyPr>
            <a:normAutofit fontScale="90000"/>
          </a:bodyPr>
          <a:lstStyle/>
          <a:p>
            <a:r>
              <a:rPr lang="en-US" sz="9600" dirty="0"/>
              <a:t>Seed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738" y="1977081"/>
            <a:ext cx="3538826" cy="302048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Distributed 50:30:20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Sample vehicle </a:t>
            </a:r>
          </a:p>
          <a:p>
            <a:r>
              <a:rPr lang="en-US" sz="2000" dirty="0"/>
              <a:t>       { Xyz789 LARGE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29139-7FC6-888D-5CC9-C5B5E32F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98508" y="6490524"/>
            <a:ext cx="4957696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2517A-3DE8-00C7-A83F-42104B2F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233" y="1977081"/>
            <a:ext cx="8270362" cy="399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5566-B1E7-74CB-1D6D-234C7CE8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748B-2C89-BD88-2E89-C799E3F8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040" y="222422"/>
            <a:ext cx="4427920" cy="1618735"/>
          </a:xfrm>
        </p:spPr>
        <p:txBody>
          <a:bodyPr>
            <a:normAutofit fontScale="90000"/>
          </a:bodyPr>
          <a:lstStyle/>
          <a:p>
            <a:r>
              <a:rPr lang="en-US" sz="9600" dirty="0"/>
              <a:t>Demo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F9AE3-9DE1-ACEE-E696-83978AA2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39535-0909-7894-5ECF-70DCBCCE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6724" y="6490524"/>
            <a:ext cx="5019480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7B3CA-C962-8DF9-9244-629556B9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484367-B913-45AB-0D22-A64E39A6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382" y="3429000"/>
            <a:ext cx="7117233" cy="2316116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2560DAA2-75BA-4421-37AF-C10E8D4BFB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8397" y="2007479"/>
            <a:ext cx="4195202" cy="1255199"/>
          </a:xfrm>
        </p:spPr>
        <p:txBody>
          <a:bodyPr>
            <a:normAutofit/>
          </a:bodyPr>
          <a:lstStyle/>
          <a:p>
            <a:r>
              <a:rPr lang="en-US" dirty="0"/>
              <a:t>Input 1 -&gt; 3</a:t>
            </a:r>
          </a:p>
          <a:p>
            <a:r>
              <a:rPr lang="en-US" dirty="0"/>
              <a:t>Input 2 -&gt; XYZ789</a:t>
            </a:r>
          </a:p>
        </p:txBody>
      </p:sp>
    </p:spTree>
    <p:extLst>
      <p:ext uri="{BB962C8B-B14F-4D97-AF65-F5344CB8AC3E}">
        <p14:creationId xmlns:p14="http://schemas.microsoft.com/office/powerpoint/2010/main" val="398914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8C78-14AE-ADE1-B668-D692A9B1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0662-35FB-BB81-7A0B-7EC1C8CD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568" y="123568"/>
            <a:ext cx="5124063" cy="1678971"/>
          </a:xfrm>
        </p:spPr>
        <p:txBody>
          <a:bodyPr>
            <a:normAutofit/>
          </a:bodyPr>
          <a:lstStyle/>
          <a:p>
            <a:r>
              <a:rPr lang="en-US" sz="9600" dirty="0"/>
              <a:t>Demo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19A3-A681-19B5-F70B-33DA12CF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2DC66-6302-443A-BF1D-5870DA8B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7232" y="6490524"/>
            <a:ext cx="5278972" cy="336141"/>
          </a:xfrm>
        </p:spPr>
        <p:txBody>
          <a:bodyPr/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C41A-1AE1-65C4-16C8-62AD2EDC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ADAA20-090C-BE1D-869E-E76D93EC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20"/>
          <a:stretch>
            <a:fillRect/>
          </a:stretch>
        </p:blipFill>
        <p:spPr>
          <a:xfrm>
            <a:off x="296051" y="387874"/>
            <a:ext cx="5091496" cy="1635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2FBD6C-044D-C6C4-468B-CCA6DF2DE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50" y="2021010"/>
            <a:ext cx="5091496" cy="17782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8167AD-8695-856B-7F0D-F4C40D832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50" y="3792991"/>
            <a:ext cx="5091496" cy="10414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4E7F12-BE60-AE67-3245-9DCFC00283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240"/>
          <a:stretch>
            <a:fillRect/>
          </a:stretch>
        </p:blipFill>
        <p:spPr>
          <a:xfrm>
            <a:off x="296050" y="4809720"/>
            <a:ext cx="5091496" cy="102999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27E1B05-875B-784C-579D-3679F04A9F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80670" y="2023190"/>
            <a:ext cx="6124961" cy="34881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Parking -&gt; {JEFF2001 LARGE}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Status -&gt; Large spot #7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Removing -&gt; from spot #7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Status -&gt; Not parked</a:t>
            </a:r>
          </a:p>
        </p:txBody>
      </p:sp>
    </p:spTree>
    <p:extLst>
      <p:ext uri="{BB962C8B-B14F-4D97-AF65-F5344CB8AC3E}">
        <p14:creationId xmlns:p14="http://schemas.microsoft.com/office/powerpoint/2010/main" val="108487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ctr">
            <a:normAutofit/>
          </a:bodyPr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5467266" cy="490511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REST API with Spring Boot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Persistent database storage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GUI/Web Interface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No best-fit spot assignment 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SMALL vehicles consume LARGE spots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Allocating Parking Sizes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Random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Evenly-distributed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Manual-distribution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Abstraction of Vehicles/Car</a:t>
            </a:r>
          </a:p>
          <a:p>
            <a:pPr marL="571500" lvl="1" indent="-342900">
              <a:lnSpc>
                <a:spcPct val="110000"/>
              </a:lnSpc>
            </a:pPr>
            <a:r>
              <a:rPr lang="en-US" sz="1500" dirty="0"/>
              <a:t>Sedan: Small</a:t>
            </a:r>
          </a:p>
          <a:p>
            <a:pPr marL="571500" lvl="1" indent="-342900">
              <a:lnSpc>
                <a:spcPct val="110000"/>
              </a:lnSpc>
            </a:pPr>
            <a:r>
              <a:rPr lang="en-US" sz="1500" dirty="0"/>
              <a:t>SUV: Large</a:t>
            </a:r>
          </a:p>
          <a:p>
            <a:pPr marL="571500" lvl="1" indent="-342900">
              <a:lnSpc>
                <a:spcPct val="110000"/>
              </a:lnSpc>
            </a:pPr>
            <a:r>
              <a:rPr lang="en-US" sz="1500" dirty="0"/>
              <a:t>Truck: Oversize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Expand Display Options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Taken parking spots versus open parking spots</a:t>
            </a: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2D Grid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D7EE0C6-06DB-432B-A080-77CD90ED5127}" type="datetime1">
              <a:rPr lang="en-US" sz="1200" smtClean="0"/>
              <a:pPr>
                <a:spcAft>
                  <a:spcPts val="600"/>
                </a:spcAft>
              </a:pPr>
              <a:t>5/17/2026</a:t>
            </a:fld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7232" y="6490524"/>
            <a:ext cx="5278972" cy="336141"/>
          </a:xfrm>
        </p:spPr>
        <p:txBody>
          <a:bodyPr anchor="ctr">
            <a:noAutofit/>
          </a:bodyPr>
          <a:lstStyle/>
          <a:p>
            <a:r>
              <a:rPr lang="en-US" sz="1200" dirty="0"/>
              <a:t>GitHub | </a:t>
            </a:r>
            <a:r>
              <a:rPr 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https://github.com/Iquoc/Parking-Lot-Management-App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026" name="Picture 2" descr="780+ Car Parking Spot Stock Illustrations, Royalty-Free Vector Graphics &amp;  Clip Art - iStock | Parking lot">
            <a:extLst>
              <a:ext uri="{FF2B5EF4-FFF2-40B4-BE49-F238E27FC236}">
                <a16:creationId xmlns:a16="http://schemas.microsoft.com/office/drawing/2014/main" id="{51C2B0A6-0AB6-9CA2-ABD7-C37E82ABA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4" r="18045" b="1"/>
          <a:stretch>
            <a:fillRect/>
          </a:stretch>
        </p:blipFill>
        <p:spPr bwMode="auto">
          <a:xfrm>
            <a:off x="6088938" y="1384847"/>
            <a:ext cx="5467266" cy="490511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z="1200" smtClean="0"/>
              <a:t>5/17/2026</a:t>
            </a:fld>
            <a:endParaRPr lang="en-US" sz="1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5070" y="6490524"/>
            <a:ext cx="4661134" cy="336141"/>
          </a:xfrm>
        </p:spPr>
        <p:txBody>
          <a:bodyPr/>
          <a:lstStyle/>
          <a:p>
            <a:r>
              <a:rPr lang="en-US" sz="1200" dirty="0"/>
              <a:t>LinkedIn | https://www.linkedin.com/in/iquoc-tran/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{76D4506F-A3E7-47B1-9491-AF5D10B0ED25}05f950ec-c865-457c-93ae-9eb2ef1c603f-TFa19fa653-f273-4169-96ef-448bb1cd1027_win32</Template>
  <TotalTime>123</TotalTime>
  <Words>481</Words>
  <Application>Microsoft Office PowerPoint</Application>
  <PresentationFormat>Widescreen</PresentationFormat>
  <Paragraphs>114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Neue Haas Grotesk Text Pro</vt:lpstr>
      <vt:lpstr>OasisVTI</vt:lpstr>
      <vt:lpstr>Parking lot management application</vt:lpstr>
      <vt:lpstr>Project overview</vt:lpstr>
      <vt:lpstr>Design &amp; Architecture</vt:lpstr>
      <vt:lpstr>Key Design Decisions</vt:lpstr>
      <vt:lpstr>Key files &amp; folder structure</vt:lpstr>
      <vt:lpstr>Running the application</vt:lpstr>
      <vt:lpstr>Testing &amp; Verification</vt:lpstr>
      <vt:lpstr>Seed data</vt:lpstr>
      <vt:lpstr>Demo 1</vt:lpstr>
      <vt:lpstr>Demo 2</vt:lpstr>
      <vt:lpstr>Future improvements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Iquoc Tran</dc:creator>
  <cp:lastModifiedBy>Iquoc Tran</cp:lastModifiedBy>
  <cp:revision>1</cp:revision>
  <dcterms:created xsi:type="dcterms:W3CDTF">2026-05-17T04:26:59Z</dcterms:created>
  <dcterms:modified xsi:type="dcterms:W3CDTF">2026-05-17T06:31:20Z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